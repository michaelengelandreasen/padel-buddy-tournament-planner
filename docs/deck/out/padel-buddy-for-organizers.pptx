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y" id="{be007bd1-4e57-9da4-45d6-5d759f86d99a}">
          <p14:sldIdLst>
            <p14:sldId id="256"/>
            <p14:sldId id="257"/>
          </p14:sldIdLst>
        </p14:section>
        <p14:section name="How it works" id="{9620f992-c5f7-5604-58d9-967b30858072}">
          <p14:sldIdLst>
            <p14:sldId id="258"/>
            <p14:sldId id="259"/>
            <p14:sldId id="260"/>
            <p14:sldId id="261"/>
          </p14:sldIdLst>
        </p14:section>
        <p14:section name="For players" id="{90b3cecf-fbaa-a7bb-20c8-e0e6d7ad3359}">
          <p14:sldIdLst>
            <p14:sldId id="262"/>
            <p14:sldId id="263"/>
          </p14:sldIdLst>
        </p14:section>
        <p14:section name="For the club" id="{a62bc997-6f74-b66b-7abc-42d84decb60d}">
          <p14:sldIdLst>
            <p14:sldId id="264"/>
            <p14:sldId id="265"/>
          </p14:sldIdLst>
        </p14:section>
        <p14:section name="Next" id="{c06c6ba5-fb18-4c26-c4ae-52e62df9814f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Padel Buddy Tournaments runs a club's tournaments, morning or evening: sign-ups, pairs, the schedule, scores, standings, and the messages to the group. Everything in this deck is the real app; the players are invented.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reality at most clubs: WhatsApp for sign-ups, paper or a spreadsheet for the draw, a printed sheet on the wall, and a PDF of results afterwards. Every step is manual and repeated every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steps. Paste and Pair happen before the tournament; Play and Post happen during it, and Post is automatic: the last score of a round sends the next round to the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Clip: the organizer pastes the club's usual WhatsApp message, presses Read the message, checks what was understood, and creates the tournament with all eight players signed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Clip: one player is placed by hand, the rest are paired at random, and the pairs are saved. Balance by level uses each player's saved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Clip: two scores are entered, the round completes, one saved score is corrected with Edit, and the round message for the next round is ready to post.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message players see between rounds. The "Next round" block is one line per pair, sorted by court, so a player finds their name and the court is already next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TV view. It runs on old tablets too: it was tested on a Galaxy Tab 2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player register. Levels are the same 1 to 7 ladder the tournaments use; the history makes level decisions explainable to players.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details that make it fit a real club: languages, phones, both chat apps, several venues, courts that change from one tournament to the next, and standings ready to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not yet available: Americano, Mexicano with club-defined rules, Up and Down; player logins by one-time code; avatars and logos; open-source self-hosting or a hosted version on the club's own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setting a club up takes minutes; the organizer keeps using the group chat they already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74520"/>
            <a:ext cx="60350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E7EDF5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023360"/>
            <a:ext cx="56692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9AA4B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E7EDF5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</a:rPr>
              <a:t>Padel Buddy Tournaments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4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4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4-1.mp4"/><Relationship Id="rId2" Type="http://schemas.microsoft.com/office/2007/relationships/media" Target="../media/media-4-1.mp4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5-1.mp4"/><Relationship Id="rId2" Type="http://schemas.microsoft.com/office/2007/relationships/media" Target="../media/media-5-1.mp4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6-1.mp4"/><Relationship Id="rId2" Type="http://schemas.microsoft.com/office/2007/relationships/media" Target="../media/media-6-1.mp4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868680" cy="868680"/>
          </a:xfrm>
          <a:prstGeom prst="rect">
            <a:avLst/>
          </a:prstGeom>
        </p:spPr>
      </p:pic>
      <p:sp>
        <p:nvSpPr>
          <p:cNvPr id="3" name="brand"/>
          <p:cNvSpPr txBox="1"/>
          <p:nvPr/>
        </p:nvSpPr>
        <p:spPr>
          <a:xfrm>
            <a:off x="1600200" y="8961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EDF5"/>
                </a:solidFill>
              </a:rPr>
              <a:t>Padel Buddy</a:t>
            </a:r>
            <a:endParaRPr lang="en-US" sz="2200" dirty="0"/>
          </a:p>
        </p:txBody>
      </p:sp>
      <p:sp>
        <p:nvSpPr>
          <p:cNvPr id="4" name="brand-sub"/>
          <p:cNvSpPr txBox="1"/>
          <p:nvPr/>
        </p:nvSpPr>
        <p:spPr>
          <a:xfrm>
            <a:off x="160020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Tournaments</a:t>
            </a:r>
            <a:endParaRPr lang="en-US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87452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7EDF5"/>
                </a:solidFill>
              </a:rPr>
              <a:t>Run your padel tournaments from the group chat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402336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AA4B2"/>
                </a:solidFill>
              </a:rPr>
              <a:t>No more printed sheets, PDFs or re-typed WhatsApp lists. Paste the club's message, and every player knows where to go next, on their own phone.</a:t>
            </a:r>
            <a:endParaRPr lang="en-US" sz="1800" dirty="0"/>
          </a:p>
        </p:txBody>
      </p:sp>
      <p:sp>
        <p:nvSpPr>
          <p:cNvPr id="7" name="tv-shot-frame"/>
          <p:cNvSpPr/>
          <p:nvPr/>
        </p:nvSpPr>
        <p:spPr>
          <a:xfrm>
            <a:off x="6848856" y="1362456"/>
            <a:ext cx="4864608" cy="2484692"/>
          </a:xfrm>
          <a:prstGeom prst="roundRect">
            <a:avLst>
              <a:gd name="adj" fmla="val 3680"/>
            </a:avLst>
          </a:prstGeom>
          <a:solidFill>
            <a:srgbClr val="1B243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8" name="tv-shot" descr="/w/docs/deck/media/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17320"/>
            <a:ext cx="4754880" cy="2374964"/>
          </a:xfrm>
          <a:prstGeom prst="rect">
            <a:avLst/>
          </a:prstGeom>
        </p:spPr>
      </p:pic>
      <p:sp>
        <p:nvSpPr>
          <p:cNvPr id="9" name="phone-shot-frame"/>
          <p:cNvSpPr/>
          <p:nvPr/>
        </p:nvSpPr>
        <p:spPr>
          <a:xfrm>
            <a:off x="9912096" y="2825496"/>
            <a:ext cx="1709928" cy="3571385"/>
          </a:xfrm>
          <a:prstGeom prst="roundRect">
            <a:avLst>
              <a:gd name="adj" fmla="val 5348"/>
            </a:avLst>
          </a:prstGeom>
          <a:solidFill>
            <a:srgbClr val="1B243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10" name="phone-shot" descr="/w/docs/deck/media/phone-scor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2880360"/>
            <a:ext cx="1600200" cy="34616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7EDF5"/>
                </a:solidFill>
              </a:rPr>
              <a:t>Every tournament, the same admin</a:t>
            </a:r>
            <a:endParaRPr lang="en-US" sz="3400" dirty="0"/>
          </a:p>
        </p:txBody>
      </p:sp>
      <p:sp>
        <p:nvSpPr>
          <p:cNvPr id="3" name="lede"/>
          <p:cNvSpPr txBox="1"/>
          <p:nvPr/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4B2"/>
                </a:solidFill>
              </a:rPr>
              <a:t>What a nonstop or Americano tournament costs the organizer today</a:t>
            </a:r>
            <a:endParaRPr lang="en-US" sz="1600" dirty="0"/>
          </a:p>
        </p:txBody>
      </p:sp>
      <p:sp>
        <p:nvSpPr>
          <p:cNvPr id="4" name="pain-0"/>
          <p:cNvSpPr/>
          <p:nvPr/>
        </p:nvSpPr>
        <p:spPr>
          <a:xfrm>
            <a:off x="548640" y="187452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21A2B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5" name="icon-bg-board"/>
          <p:cNvSpPr/>
          <p:nvPr/>
        </p:nvSpPr>
        <p:spPr>
          <a:xfrm>
            <a:off x="822960" y="2194560"/>
            <a:ext cx="566928" cy="56692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6" name="icon-boar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84" y="2319284"/>
            <a:ext cx="317480" cy="317480"/>
          </a:xfrm>
          <a:prstGeom prst="rect">
            <a:avLst/>
          </a:prstGeom>
        </p:spPr>
      </p:pic>
      <p:sp>
        <p:nvSpPr>
          <p:cNvPr id="7" name="pain-head-0"/>
          <p:cNvSpPr txBox="1"/>
          <p:nvPr/>
        </p:nvSpPr>
        <p:spPr>
          <a:xfrm>
            <a:off x="1600200" y="216712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EDF5"/>
                </a:solidFill>
              </a:rPr>
              <a:t>Re-typing the list</a:t>
            </a:r>
            <a:endParaRPr lang="en-US" sz="2000" dirty="0"/>
          </a:p>
        </p:txBody>
      </p:sp>
      <p:sp>
        <p:nvSpPr>
          <p:cNvPr id="8" name="pain-body-0"/>
          <p:cNvSpPr txBox="1"/>
          <p:nvPr/>
        </p:nvSpPr>
        <p:spPr>
          <a:xfrm>
            <a:off x="1600200" y="262432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The group fills the slots in WhatsApp; someone copies sixteen names into a spreadsheet.</a:t>
            </a:r>
            <a:endParaRPr lang="en-US" sz="1500" dirty="0"/>
          </a:p>
        </p:txBody>
      </p:sp>
      <p:sp>
        <p:nvSpPr>
          <p:cNvPr id="9" name="pain-1"/>
          <p:cNvSpPr/>
          <p:nvPr/>
        </p:nvSpPr>
        <p:spPr>
          <a:xfrm>
            <a:off x="6172200" y="187452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21A2B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0" name="icon-bg-users"/>
          <p:cNvSpPr/>
          <p:nvPr/>
        </p:nvSpPr>
        <p:spPr>
          <a:xfrm>
            <a:off x="6446520" y="2194560"/>
            <a:ext cx="566928" cy="56692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11" name="icon-user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244" y="2319284"/>
            <a:ext cx="317480" cy="317480"/>
          </a:xfrm>
          <a:prstGeom prst="rect">
            <a:avLst/>
          </a:prstGeom>
        </p:spPr>
      </p:pic>
      <p:sp>
        <p:nvSpPr>
          <p:cNvPr id="12" name="pain-head-1"/>
          <p:cNvSpPr txBox="1"/>
          <p:nvPr/>
        </p:nvSpPr>
        <p:spPr>
          <a:xfrm>
            <a:off x="7223760" y="216712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EDF5"/>
                </a:solidFill>
              </a:rPr>
              <a:t>Pairs on paper</a:t>
            </a:r>
            <a:endParaRPr lang="en-US" sz="2000" dirty="0"/>
          </a:p>
        </p:txBody>
      </p:sp>
      <p:sp>
        <p:nvSpPr>
          <p:cNvPr id="13" name="pain-body-1"/>
          <p:cNvSpPr txBox="1"/>
          <p:nvPr/>
        </p:nvSpPr>
        <p:spPr>
          <a:xfrm>
            <a:off x="7223760" y="262432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Partners, the odd player out, a pair that cancels at 18:55.</a:t>
            </a:r>
            <a:endParaRPr lang="en-US" sz="1500" dirty="0"/>
          </a:p>
        </p:txBody>
      </p:sp>
      <p:sp>
        <p:nvSpPr>
          <p:cNvPr id="14" name="pain-2"/>
          <p:cNvSpPr/>
          <p:nvPr/>
        </p:nvSpPr>
        <p:spPr>
          <a:xfrm>
            <a:off x="548640" y="388620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21A2B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5" name="icon-bg-court"/>
          <p:cNvSpPr/>
          <p:nvPr/>
        </p:nvSpPr>
        <p:spPr>
          <a:xfrm>
            <a:off x="822960" y="4206240"/>
            <a:ext cx="566928" cy="56692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16" name="icon-cour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84" y="4330964"/>
            <a:ext cx="317480" cy="317480"/>
          </a:xfrm>
          <a:prstGeom prst="rect">
            <a:avLst/>
          </a:prstGeom>
        </p:spPr>
      </p:pic>
      <p:sp>
        <p:nvSpPr>
          <p:cNvPr id="17" name="pain-head-2"/>
          <p:cNvSpPr txBox="1"/>
          <p:nvPr/>
        </p:nvSpPr>
        <p:spPr>
          <a:xfrm>
            <a:off x="1600200" y="41788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EDF5"/>
                </a:solidFill>
              </a:rPr>
              <a:t>"Which court am I on?"</a:t>
            </a:r>
            <a:endParaRPr lang="en-US" sz="2000" dirty="0"/>
          </a:p>
        </p:txBody>
      </p:sp>
      <p:sp>
        <p:nvSpPr>
          <p:cNvPr id="18" name="pain-body-2"/>
          <p:cNvSpPr txBox="1"/>
          <p:nvPr/>
        </p:nvSpPr>
        <p:spPr>
          <a:xfrm>
            <a:off x="1600200" y="463600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Twenty people at the wall between rounds, squinting at a printed grid.</a:t>
            </a:r>
            <a:endParaRPr lang="en-US" sz="1500" dirty="0"/>
          </a:p>
        </p:txBody>
      </p:sp>
      <p:sp>
        <p:nvSpPr>
          <p:cNvPr id="19" name="pain-3"/>
          <p:cNvSpPr/>
          <p:nvPr/>
        </p:nvSpPr>
        <p:spPr>
          <a:xfrm>
            <a:off x="6172200" y="388620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21A2B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20" name="icon-bg-trophy"/>
          <p:cNvSpPr/>
          <p:nvPr/>
        </p:nvSpPr>
        <p:spPr>
          <a:xfrm>
            <a:off x="6446520" y="4206240"/>
            <a:ext cx="566928" cy="56692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21" name="icon-trophy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244" y="4330964"/>
            <a:ext cx="317480" cy="317480"/>
          </a:xfrm>
          <a:prstGeom prst="rect">
            <a:avLst/>
          </a:prstGeom>
        </p:spPr>
      </p:pic>
      <p:sp>
        <p:nvSpPr>
          <p:cNvPr id="22" name="pain-head-3"/>
          <p:cNvSpPr txBox="1"/>
          <p:nvPr/>
        </p:nvSpPr>
        <p:spPr>
          <a:xfrm>
            <a:off x="7223760" y="41788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EDF5"/>
                </a:solidFill>
              </a:rPr>
              <a:t>Scores and the table by hand</a:t>
            </a:r>
            <a:endParaRPr lang="en-US" sz="2000" dirty="0"/>
          </a:p>
        </p:txBody>
      </p:sp>
      <p:sp>
        <p:nvSpPr>
          <p:cNvPr id="23" name="pain-body-3"/>
          <p:cNvSpPr txBox="1"/>
          <p:nvPr/>
        </p:nvSpPr>
        <p:spPr>
          <a:xfrm>
            <a:off x="7223760" y="463600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Adding up points afterwards, then a PDF in the group the next day.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4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7EDF5"/>
                </a:solidFill>
              </a:rPr>
              <a:t>A tournament in four steps</a:t>
            </a:r>
            <a:endParaRPr lang="en-US" sz="3400" dirty="0"/>
          </a:p>
        </p:txBody>
      </p:sp>
      <p:sp>
        <p:nvSpPr>
          <p:cNvPr id="3" name="lede"/>
          <p:cNvSpPr txBox="1"/>
          <p:nvPr/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4B2"/>
                </a:solidFill>
              </a:rPr>
              <a:t>The organizer does the first two from a phone; the app does the rest</a:t>
            </a:r>
            <a:endParaRPr lang="en-US" sz="1600" dirty="0"/>
          </a:p>
        </p:txBody>
      </p:sp>
      <p:sp>
        <p:nvSpPr>
          <p:cNvPr id="4" name="step-0"/>
          <p:cNvSpPr/>
          <p:nvPr/>
        </p:nvSpPr>
        <p:spPr>
          <a:xfrm>
            <a:off x="548640" y="1965960"/>
            <a:ext cx="2533574" cy="3840480"/>
          </a:xfrm>
          <a:prstGeom prst="roundRect">
            <a:avLst>
              <a:gd name="adj" fmla="val 4331"/>
            </a:avLst>
          </a:prstGeom>
          <a:solidFill>
            <a:srgbClr val="121A2B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5" name="icon-bg-chat"/>
          <p:cNvSpPr/>
          <p:nvPr/>
        </p:nvSpPr>
        <p:spPr>
          <a:xfrm>
            <a:off x="868680" y="2331720"/>
            <a:ext cx="731520" cy="73152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6" name="icon-cha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2492654"/>
            <a:ext cx="409651" cy="409651"/>
          </a:xfrm>
          <a:prstGeom prst="rect">
            <a:avLst/>
          </a:prstGeom>
        </p:spPr>
      </p:pic>
      <p:sp>
        <p:nvSpPr>
          <p:cNvPr id="7" name="step-n-0"/>
          <p:cNvSpPr txBox="1"/>
          <p:nvPr/>
        </p:nvSpPr>
        <p:spPr>
          <a:xfrm>
            <a:off x="2304974" y="22860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63247"/>
                </a:solidFill>
              </a:rPr>
              <a:t>1</a:t>
            </a:r>
            <a:endParaRPr lang="en-US" sz="3600" dirty="0"/>
          </a:p>
        </p:txBody>
      </p:sp>
      <p:sp>
        <p:nvSpPr>
          <p:cNvPr id="8" name="step-head-0"/>
          <p:cNvSpPr txBox="1"/>
          <p:nvPr/>
        </p:nvSpPr>
        <p:spPr>
          <a:xfrm>
            <a:off x="868680" y="3291840"/>
            <a:ext cx="18934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Paste</a:t>
            </a:r>
            <a:endParaRPr lang="en-US" sz="2400" dirty="0"/>
          </a:p>
        </p:txBody>
      </p:sp>
      <p:sp>
        <p:nvSpPr>
          <p:cNvPr id="9" name="step-body-0"/>
          <p:cNvSpPr txBox="1"/>
          <p:nvPr/>
        </p:nvSpPr>
        <p:spPr>
          <a:xfrm>
            <a:off x="868680" y="3886200"/>
            <a:ext cx="189349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The club's usual WhatsApp sign-up message. Date, time, level, club and every name are read from it.</a:t>
            </a:r>
            <a:endParaRPr lang="en-US" sz="1500" dirty="0"/>
          </a:p>
        </p:txBody>
      </p:sp>
      <p:sp>
        <p:nvSpPr>
          <p:cNvPr id="10" name="step-1"/>
          <p:cNvSpPr/>
          <p:nvPr/>
        </p:nvSpPr>
        <p:spPr>
          <a:xfrm>
            <a:off x="3402254" y="1965960"/>
            <a:ext cx="2533574" cy="3840480"/>
          </a:xfrm>
          <a:prstGeom prst="roundRect">
            <a:avLst>
              <a:gd name="adj" fmla="val 4331"/>
            </a:avLst>
          </a:prstGeom>
          <a:solidFill>
            <a:srgbClr val="121A2B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1" name="icon-bg-users"/>
          <p:cNvSpPr/>
          <p:nvPr/>
        </p:nvSpPr>
        <p:spPr>
          <a:xfrm>
            <a:off x="3722294" y="2331720"/>
            <a:ext cx="731520" cy="73152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12" name="icon-user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228" y="2492654"/>
            <a:ext cx="409651" cy="409651"/>
          </a:xfrm>
          <a:prstGeom prst="rect">
            <a:avLst/>
          </a:prstGeom>
        </p:spPr>
      </p:pic>
      <p:sp>
        <p:nvSpPr>
          <p:cNvPr id="13" name="step-n-1"/>
          <p:cNvSpPr txBox="1"/>
          <p:nvPr/>
        </p:nvSpPr>
        <p:spPr>
          <a:xfrm>
            <a:off x="5158588" y="22860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63247"/>
                </a:solidFill>
              </a:rPr>
              <a:t>2</a:t>
            </a:r>
            <a:endParaRPr lang="en-US" sz="3600" dirty="0"/>
          </a:p>
        </p:txBody>
      </p:sp>
      <p:sp>
        <p:nvSpPr>
          <p:cNvPr id="14" name="step-head-1"/>
          <p:cNvSpPr txBox="1"/>
          <p:nvPr/>
        </p:nvSpPr>
        <p:spPr>
          <a:xfrm>
            <a:off x="3722294" y="3291840"/>
            <a:ext cx="18934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Pair</a:t>
            </a:r>
            <a:endParaRPr lang="en-US" sz="2400" dirty="0"/>
          </a:p>
        </p:txBody>
      </p:sp>
      <p:sp>
        <p:nvSpPr>
          <p:cNvPr id="15" name="step-body-1"/>
          <p:cNvSpPr txBox="1"/>
          <p:nvPr/>
        </p:nvSpPr>
        <p:spPr>
          <a:xfrm>
            <a:off x="3722294" y="3886200"/>
            <a:ext cx="189349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Drag players into pairs, pair the rest at random, or balance them by level.</a:t>
            </a:r>
            <a:endParaRPr lang="en-US" sz="1500" dirty="0"/>
          </a:p>
        </p:txBody>
      </p:sp>
      <p:sp>
        <p:nvSpPr>
          <p:cNvPr id="16" name="step-2"/>
          <p:cNvSpPr/>
          <p:nvPr/>
        </p:nvSpPr>
        <p:spPr>
          <a:xfrm>
            <a:off x="6255868" y="1965960"/>
            <a:ext cx="2533574" cy="3840480"/>
          </a:xfrm>
          <a:prstGeom prst="roundRect">
            <a:avLst>
              <a:gd name="adj" fmla="val 4331"/>
            </a:avLst>
          </a:prstGeom>
          <a:solidFill>
            <a:srgbClr val="121A2B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7" name="icon-bg-list"/>
          <p:cNvSpPr/>
          <p:nvPr/>
        </p:nvSpPr>
        <p:spPr>
          <a:xfrm>
            <a:off x="6575908" y="2331720"/>
            <a:ext cx="731520" cy="73152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18" name="icon-lis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842" y="2492654"/>
            <a:ext cx="409651" cy="409651"/>
          </a:xfrm>
          <a:prstGeom prst="rect">
            <a:avLst/>
          </a:prstGeom>
        </p:spPr>
      </p:pic>
      <p:sp>
        <p:nvSpPr>
          <p:cNvPr id="19" name="step-n-2"/>
          <p:cNvSpPr txBox="1"/>
          <p:nvPr/>
        </p:nvSpPr>
        <p:spPr>
          <a:xfrm>
            <a:off x="8012201" y="22860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63247"/>
                </a:solidFill>
              </a:rPr>
              <a:t>3</a:t>
            </a:r>
            <a:endParaRPr lang="en-US" sz="3600" dirty="0"/>
          </a:p>
        </p:txBody>
      </p:sp>
      <p:sp>
        <p:nvSpPr>
          <p:cNvPr id="20" name="step-head-2"/>
          <p:cNvSpPr txBox="1"/>
          <p:nvPr/>
        </p:nvSpPr>
        <p:spPr>
          <a:xfrm>
            <a:off x="6575908" y="3291840"/>
            <a:ext cx="18934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Play</a:t>
            </a:r>
            <a:endParaRPr lang="en-US" sz="2400" dirty="0"/>
          </a:p>
        </p:txBody>
      </p:sp>
      <p:sp>
        <p:nvSpPr>
          <p:cNvPr id="21" name="step-body-2"/>
          <p:cNvSpPr txBox="1"/>
          <p:nvPr/>
        </p:nvSpPr>
        <p:spPr>
          <a:xfrm>
            <a:off x="6575908" y="3886200"/>
            <a:ext cx="189349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Type scores on the phone between points. The schedule and the table keep themselves.</a:t>
            </a:r>
            <a:endParaRPr lang="en-US" sz="1500" dirty="0"/>
          </a:p>
        </p:txBody>
      </p:sp>
      <p:sp>
        <p:nvSpPr>
          <p:cNvPr id="22" name="step-3"/>
          <p:cNvSpPr/>
          <p:nvPr/>
        </p:nvSpPr>
        <p:spPr>
          <a:xfrm>
            <a:off x="9109481" y="1965960"/>
            <a:ext cx="2533574" cy="3840480"/>
          </a:xfrm>
          <a:prstGeom prst="roundRect">
            <a:avLst>
              <a:gd name="adj" fmla="val 4331"/>
            </a:avLst>
          </a:prstGeom>
          <a:solidFill>
            <a:srgbClr val="121A2B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23" name="icon-bg-megaphone"/>
          <p:cNvSpPr/>
          <p:nvPr/>
        </p:nvSpPr>
        <p:spPr>
          <a:xfrm>
            <a:off x="9429521" y="2331720"/>
            <a:ext cx="731520" cy="73152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24" name="icon-megaph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456" y="2492654"/>
            <a:ext cx="409651" cy="409651"/>
          </a:xfrm>
          <a:prstGeom prst="rect">
            <a:avLst/>
          </a:prstGeom>
        </p:spPr>
      </p:pic>
      <p:sp>
        <p:nvSpPr>
          <p:cNvPr id="25" name="step-n-3"/>
          <p:cNvSpPr txBox="1"/>
          <p:nvPr/>
        </p:nvSpPr>
        <p:spPr>
          <a:xfrm>
            <a:off x="10865815" y="22860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63247"/>
                </a:solidFill>
              </a:rPr>
              <a:t>4</a:t>
            </a:r>
            <a:endParaRPr lang="en-US" sz="3600" dirty="0"/>
          </a:p>
        </p:txBody>
      </p:sp>
      <p:sp>
        <p:nvSpPr>
          <p:cNvPr id="26" name="step-head-3"/>
          <p:cNvSpPr txBox="1"/>
          <p:nvPr/>
        </p:nvSpPr>
        <p:spPr>
          <a:xfrm>
            <a:off x="9429521" y="3291840"/>
            <a:ext cx="18934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Post</a:t>
            </a:r>
            <a:endParaRPr lang="en-US" sz="2400" dirty="0"/>
          </a:p>
        </p:txBody>
      </p:sp>
      <p:sp>
        <p:nvSpPr>
          <p:cNvPr id="27" name="step-body-3"/>
          <p:cNvSpPr txBox="1"/>
          <p:nvPr/>
        </p:nvSpPr>
        <p:spPr>
          <a:xfrm>
            <a:off x="9429521" y="3886200"/>
            <a:ext cx="189349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Each round goes to the group by itself: who plays where now, and where everyone goes next.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4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7EDF5"/>
                </a:solidFill>
              </a:rPr>
              <a:t>Paste the message you already send</a:t>
            </a:r>
            <a:endParaRPr lang="en-US" sz="3400" dirty="0"/>
          </a:p>
        </p:txBody>
      </p:sp>
      <p:sp>
        <p:nvSpPr>
          <p:cNvPr id="3" name="step-pill"/>
          <p:cNvSpPr/>
          <p:nvPr/>
        </p:nvSpPr>
        <p:spPr>
          <a:xfrm>
            <a:off x="548640" y="117043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step-label"/>
          <p:cNvSpPr txBox="1"/>
          <p:nvPr/>
        </p:nvSpPr>
        <p:spPr>
          <a:xfrm>
            <a:off x="548640" y="11704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</a:rPr>
              <a:t>STEP 1 · PASTE</a:t>
            </a:r>
            <a:endParaRPr lang="en-US" sz="1100" dirty="0"/>
          </a:p>
        </p:txBody>
      </p:sp>
      <p:sp>
        <p:nvSpPr>
          <p:cNvPr id="5" name="v1-import-frame"/>
          <p:cNvSpPr/>
          <p:nvPr/>
        </p:nvSpPr>
        <p:spPr>
          <a:xfrm>
            <a:off x="493776" y="1728216"/>
            <a:ext cx="6510528" cy="4627940"/>
          </a:xfrm>
          <a:prstGeom prst="roundRect">
            <a:avLst>
              <a:gd name="adj" fmla="val 1976"/>
            </a:avLst>
          </a:prstGeom>
          <a:solidFill>
            <a:srgbClr val="1B2437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3" name="v1-import-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783080"/>
            <a:ext cx="6400800" cy="4518212"/>
          </a:xfrm>
          <a:prstGeom prst="rect">
            <a:avLst/>
          </a:prstGeom>
        </p:spPr>
      </p:pic>
      <p:sp>
        <p:nvSpPr>
          <p:cNvPr id="7" name="points"/>
          <p:cNvSpPr txBox="1"/>
          <p:nvPr/>
        </p:nvSpPr>
        <p:spPr>
          <a:xfrm>
            <a:off x="7406640" y="1783080"/>
            <a:ext cx="4206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</a:rPr>
              <a:t>Your format, as it is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9AA4B2"/>
                </a:solidFill>
              </a:rPr>
              <a:t>The date line, the time line and the numbered list the group already uses. Copied from a phone or from WhatsApp Desktop.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</a:rPr>
              <a:t>Read, then checked by you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9AA4B2"/>
                </a:solidFill>
              </a:rPr>
              <a:t>Date, start, duration, level and club fill the form. Anything it could not read is named, not guessed.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</a:rPr>
              <a:t>One tap creates the tournament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9AA4B2"/>
                </a:solidFill>
              </a:rPr>
              <a:t>Every player signed up at once; "(dupla)" pairs stay together.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4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7EDF5"/>
                </a:solidFill>
              </a:rPr>
              <a:t>Make the pairs in seconds</a:t>
            </a:r>
            <a:endParaRPr lang="en-US" sz="3400" dirty="0"/>
          </a:p>
        </p:txBody>
      </p:sp>
      <p:sp>
        <p:nvSpPr>
          <p:cNvPr id="3" name="step-pill"/>
          <p:cNvSpPr/>
          <p:nvPr/>
        </p:nvSpPr>
        <p:spPr>
          <a:xfrm>
            <a:off x="548640" y="117043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step-label"/>
          <p:cNvSpPr txBox="1"/>
          <p:nvPr/>
        </p:nvSpPr>
        <p:spPr>
          <a:xfrm>
            <a:off x="548640" y="11704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</a:rPr>
              <a:t>STEP 2 · PAIR</a:t>
            </a:r>
            <a:endParaRPr lang="en-US" sz="1100" dirty="0"/>
          </a:p>
        </p:txBody>
      </p:sp>
      <p:sp>
        <p:nvSpPr>
          <p:cNvPr id="5" name="v3-pairs-frame"/>
          <p:cNvSpPr/>
          <p:nvPr/>
        </p:nvSpPr>
        <p:spPr>
          <a:xfrm>
            <a:off x="493776" y="1728216"/>
            <a:ext cx="6510528" cy="4627940"/>
          </a:xfrm>
          <a:prstGeom prst="roundRect">
            <a:avLst>
              <a:gd name="adj" fmla="val 1976"/>
            </a:avLst>
          </a:prstGeom>
          <a:solidFill>
            <a:srgbClr val="1B2437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3" name="v3-pairs-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783080"/>
            <a:ext cx="6400800" cy="4518212"/>
          </a:xfrm>
          <a:prstGeom prst="rect">
            <a:avLst/>
          </a:prstGeom>
        </p:spPr>
      </p:pic>
      <p:sp>
        <p:nvSpPr>
          <p:cNvPr id="7" name="points"/>
          <p:cNvSpPr txBox="1"/>
          <p:nvPr/>
        </p:nvSpPr>
        <p:spPr>
          <a:xfrm>
            <a:off x="7406640" y="1783080"/>
            <a:ext cx="4206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</a:rPr>
              <a:t>Drag, or tap two players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9AA4B2"/>
                </a:solidFill>
              </a:rPr>
              <a:t>Works with a thumb on a phone as well as a mouse.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</a:rPr>
              <a:t>Pair up the rest at random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9AA4B2"/>
                </a:solidFill>
              </a:rPr>
              <a:t>Fills every empty seat; on a mixed level, one of each per pair.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</a:rPr>
              <a:t>Balance by level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9AA4B2"/>
                </a:solidFill>
              </a:rPr>
              <a:t>Strongest with weakest, so every pair adds up to about the same.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4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7EDF5"/>
                </a:solidFill>
              </a:rPr>
              <a:t>Scores in, next round out</a:t>
            </a:r>
            <a:endParaRPr lang="en-US" sz="3400" dirty="0"/>
          </a:p>
        </p:txBody>
      </p:sp>
      <p:sp>
        <p:nvSpPr>
          <p:cNvPr id="3" name="step-pill"/>
          <p:cNvSpPr/>
          <p:nvPr/>
        </p:nvSpPr>
        <p:spPr>
          <a:xfrm>
            <a:off x="548640" y="117043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step-label"/>
          <p:cNvSpPr txBox="1"/>
          <p:nvPr/>
        </p:nvSpPr>
        <p:spPr>
          <a:xfrm>
            <a:off x="548640" y="11704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</a:rPr>
              <a:t>STEP 3 · PLAY</a:t>
            </a:r>
            <a:endParaRPr lang="en-US" sz="1100" dirty="0"/>
          </a:p>
        </p:txBody>
      </p:sp>
      <p:sp>
        <p:nvSpPr>
          <p:cNvPr id="5" name="v2-scores-frame"/>
          <p:cNvSpPr/>
          <p:nvPr/>
        </p:nvSpPr>
        <p:spPr>
          <a:xfrm>
            <a:off x="493776" y="1728216"/>
            <a:ext cx="6510528" cy="4627940"/>
          </a:xfrm>
          <a:prstGeom prst="roundRect">
            <a:avLst>
              <a:gd name="adj" fmla="val 1976"/>
            </a:avLst>
          </a:prstGeom>
          <a:solidFill>
            <a:srgbClr val="1B2437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3" name="v2-scores-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783080"/>
            <a:ext cx="6400800" cy="4518212"/>
          </a:xfrm>
          <a:prstGeom prst="rect">
            <a:avLst/>
          </a:prstGeom>
        </p:spPr>
      </p:pic>
      <p:sp>
        <p:nvSpPr>
          <p:cNvPr id="7" name="points"/>
          <p:cNvSpPr txBox="1"/>
          <p:nvPr/>
        </p:nvSpPr>
        <p:spPr>
          <a:xfrm>
            <a:off x="7406640" y="1783080"/>
            <a:ext cx="4206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</a:rPr>
              <a:t>Type the score, press Save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9AA4B2"/>
                </a:solidFill>
              </a:rPr>
              <a:t>Big score boxes made for a phone at the side of the court. Save one match, or Save all.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</a:rPr>
              <a:t>Saved means saved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9AA4B2"/>
                </a:solidFill>
              </a:rPr>
              <a:t>A saved match shows its result; Edit fixes a typo, Cancel puts it back.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</a:rPr>
              <a:t>The round posts itself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9AA4B2"/>
                </a:solidFill>
              </a:rPr>
              <a:t>The last score of a round sends the next round's message to the group.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4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7EDF5"/>
                </a:solidFill>
              </a:rPr>
              <a:t>Everyone knows where to go next</a:t>
            </a:r>
            <a:endParaRPr lang="en-US" sz="3400" dirty="0"/>
          </a:p>
        </p:txBody>
      </p:sp>
      <p:sp>
        <p:nvSpPr>
          <p:cNvPr id="3" name="step-pill"/>
          <p:cNvSpPr/>
          <p:nvPr/>
        </p:nvSpPr>
        <p:spPr>
          <a:xfrm>
            <a:off x="548640" y="117043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step-label"/>
          <p:cNvSpPr txBox="1"/>
          <p:nvPr/>
        </p:nvSpPr>
        <p:spPr>
          <a:xfrm>
            <a:off x="548640" y="11704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</a:rPr>
              <a:t>STEP 4 · POST</a:t>
            </a:r>
            <a:endParaRPr lang="en-US" sz="1100" dirty="0"/>
          </a:p>
        </p:txBody>
      </p:sp>
      <p:sp>
        <p:nvSpPr>
          <p:cNvPr id="5" name="round-bubble"/>
          <p:cNvSpPr/>
          <p:nvPr/>
        </p:nvSpPr>
        <p:spPr>
          <a:xfrm>
            <a:off x="548640" y="1783080"/>
            <a:ext cx="5120640" cy="4160520"/>
          </a:xfrm>
          <a:prstGeom prst="roundRect">
            <a:avLst>
              <a:gd name="adj" fmla="val 3516"/>
            </a:avLst>
          </a:prstGeom>
          <a:solidFill>
            <a:srgbClr val="163A2C"/>
          </a:solidFill>
          <a:ln w="12700">
            <a:solidFill>
              <a:srgbClr val="163A2C"/>
            </a:solidFill>
            <a:prstDash val="solid"/>
          </a:ln>
        </p:spPr>
      </p:sp>
      <p:sp>
        <p:nvSpPr>
          <p:cNvPr id="6" name="round-text"/>
          <p:cNvSpPr txBox="1"/>
          <p:nvPr/>
        </p:nvSpPr>
        <p:spPr>
          <a:xfrm>
            <a:off x="777240" y="1965960"/>
            <a:ext cx="4663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7EDF5"/>
                </a:solidFill>
              </a:rPr>
              <a:t>Round 5 of 7 · Nonstop MX4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5"/>
                </a:solidFill>
              </a:rPr>
              <a:t>10AM → 10:15AM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EDF5"/>
                </a:solidFill>
              </a:rPr>
              <a:t>Court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5"/>
                </a:solidFill>
              </a:rPr>
              <a:t>Inês Carvalho &amp; Tomás Ribeiro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5"/>
                </a:solidFill>
              </a:rPr>
              <a:t>vs Mariana Couto &amp; Rafael Sousa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EDF5"/>
                </a:solidFill>
              </a:rPr>
              <a:t>Court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5"/>
                </a:solidFill>
              </a:rPr>
              <a:t>Carolina Neves &amp; Martim Alves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5"/>
                </a:solidFill>
              </a:rPr>
              <a:t>vs Leonor Matos &amp; Gonçalo Faria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5"/>
                </a:solidFill>
              </a:rPr>
              <a:t>…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EDF5"/>
                </a:solidFill>
              </a:rPr>
              <a:t>Next round · 10:15AM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5"/>
                </a:solidFill>
              </a:rPr>
              <a:t>Court 1 — Inês Carvalho &amp; Tomás Ribeiro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5"/>
                </a:solidFill>
              </a:rPr>
              <a:t>Court 1 — Leonor Matos &amp; Gonçalo Faria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5"/>
                </a:solidFill>
              </a:rPr>
              <a:t>Court 2 — Beatriz Lopes &amp; Duarte Pinho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5"/>
                </a:solidFill>
              </a:rPr>
              <a:t>Court 2 — Mariana Couto &amp; Rafael Sousa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5"/>
                </a:solidFill>
              </a:rPr>
              <a:t>…</a:t>
            </a:r>
            <a:endParaRPr lang="en-US" sz="1300" dirty="0"/>
          </a:p>
        </p:txBody>
      </p:sp>
      <p:sp>
        <p:nvSpPr>
          <p:cNvPr id="7" name="round-caption"/>
          <p:cNvSpPr txBox="1"/>
          <p:nvPr/>
        </p:nvSpPr>
        <p:spPr>
          <a:xfrm>
            <a:off x="548640" y="6035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</a:rPr>
              <a:t>Posted by the app after the last score of round 4</a:t>
            </a:r>
            <a:endParaRPr lang="en-US" sz="1100" dirty="0"/>
          </a:p>
        </p:txBody>
      </p:sp>
      <p:sp>
        <p:nvSpPr>
          <p:cNvPr id="8" name="ask-bubble"/>
          <p:cNvSpPr/>
          <p:nvPr/>
        </p:nvSpPr>
        <p:spPr>
          <a:xfrm>
            <a:off x="6172200" y="1783080"/>
            <a:ext cx="1737360" cy="548640"/>
          </a:xfrm>
          <a:prstGeom prst="roundRect">
            <a:avLst>
              <a:gd name="adj" fmla="val 26667"/>
            </a:avLst>
          </a:prstGeom>
          <a:solidFill>
            <a:srgbClr val="1B2437"/>
          </a:solidFill>
          <a:ln w="12700">
            <a:solidFill>
              <a:srgbClr val="1B2437"/>
            </a:solidFill>
            <a:prstDash val="solid"/>
          </a:ln>
        </p:spPr>
      </p:sp>
      <p:sp>
        <p:nvSpPr>
          <p:cNvPr id="9" name="ask-text"/>
          <p:cNvSpPr txBox="1"/>
          <p:nvPr/>
        </p:nvSpPr>
        <p:spPr>
          <a:xfrm>
            <a:off x="6172200" y="1783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!where ines</a:t>
            </a:r>
            <a:endParaRPr lang="en-US" sz="1400" dirty="0"/>
          </a:p>
        </p:txBody>
      </p:sp>
      <p:sp>
        <p:nvSpPr>
          <p:cNvPr id="10" name="where-bubble"/>
          <p:cNvSpPr/>
          <p:nvPr/>
        </p:nvSpPr>
        <p:spPr>
          <a:xfrm>
            <a:off x="6172200" y="2514600"/>
            <a:ext cx="5440680" cy="1600200"/>
          </a:xfrm>
          <a:prstGeom prst="roundRect">
            <a:avLst>
              <a:gd name="adj" fmla="val 9143"/>
            </a:avLst>
          </a:prstGeom>
          <a:solidFill>
            <a:srgbClr val="163A2C"/>
          </a:solidFill>
          <a:ln w="12700">
            <a:solidFill>
              <a:srgbClr val="163A2C"/>
            </a:solidFill>
            <a:prstDash val="solid"/>
          </a:ln>
        </p:spPr>
      </p:sp>
      <p:sp>
        <p:nvSpPr>
          <p:cNvPr id="11" name="where-text"/>
          <p:cNvSpPr txBox="1"/>
          <p:nvPr/>
        </p:nvSpPr>
        <p:spPr>
          <a:xfrm>
            <a:off x="6400800" y="269748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7EDF5"/>
                </a:solidFill>
              </a:rPr>
              <a:t>Inês Carvalho &amp; Tomás Ribeiro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EDF5"/>
                </a:solidFill>
              </a:rPr>
              <a:t>Now · Court 1 (10AM → 10:15AM)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5"/>
                </a:solidFill>
              </a:rPr>
              <a:t>vs Mariana Couto &amp; Rafael Sousa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5"/>
                </a:solidFill>
              </a:rPr>
              <a:t>Next: Court 1, from 10:15AM</a:t>
            </a:r>
            <a:endParaRPr lang="en-US" sz="1300" dirty="0"/>
          </a:p>
        </p:txBody>
      </p:sp>
      <p:sp>
        <p:nvSpPr>
          <p:cNvPr id="12" name="points"/>
          <p:cNvSpPr txBox="1"/>
          <p:nvPr/>
        </p:nvSpPr>
        <p:spPr>
          <a:xfrm>
            <a:off x="6172200" y="4343400"/>
            <a:ext cx="5440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7EDF5"/>
                </a:solidFill>
              </a:rPr>
              <a:t>In WhatsApp and Telegram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9AA4B2"/>
                </a:solidFill>
              </a:rPr>
              <a:t>Telegram posts by itself and keeps one pinned sign-up list up to date. For WhatsApp the message is ready to paste.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7EDF5"/>
                </a:solidFill>
              </a:rPr>
              <a:t>Anyone can ask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9AA4B2"/>
                </a:solidFill>
              </a:rPr>
              <a:t>"!where" with their name answers for one player: court now, court next.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4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7EDF5"/>
                </a:solidFill>
              </a:rPr>
              <a:t>A screen in the clubhouse that answers "which court?"</a:t>
            </a:r>
            <a:endParaRPr lang="en-US" sz="3400" dirty="0"/>
          </a:p>
        </p:txBody>
      </p:sp>
      <p:sp>
        <p:nvSpPr>
          <p:cNvPr id="3" name="tv-board-frame"/>
          <p:cNvSpPr/>
          <p:nvPr/>
        </p:nvSpPr>
        <p:spPr>
          <a:xfrm>
            <a:off x="493776" y="1316736"/>
            <a:ext cx="8522208" cy="4311587"/>
          </a:xfrm>
          <a:prstGeom prst="roundRect">
            <a:avLst>
              <a:gd name="adj" fmla="val 2121"/>
            </a:avLst>
          </a:prstGeom>
          <a:solidFill>
            <a:srgbClr val="1B243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4" name="tv-board" descr="/w/docs/deck/media/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8412480" cy="4201859"/>
          </a:xfrm>
          <a:prstGeom prst="rect">
            <a:avLst/>
          </a:prstGeom>
        </p:spPr>
      </p:pic>
      <p:sp>
        <p:nvSpPr>
          <p:cNvPr id="5" name="points"/>
          <p:cNvSpPr txBox="1"/>
          <p:nvPr/>
        </p:nvSpPr>
        <p:spPr>
          <a:xfrm>
            <a:off x="9281160" y="1371600"/>
            <a:ext cx="2377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7EDF5"/>
                </a:solidFill>
              </a:rPr>
              <a:t>Every pair, every round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9AA4B2"/>
                </a:solidFill>
              </a:rPr>
              <a:t>One row per pair: where they played, where they are now, where they go next.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7EDF5"/>
                </a:solidFill>
              </a:rPr>
              <a:t>Refreshes itself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9AA4B2"/>
                </a:solidFill>
              </a:rPr>
              <a:t>Put a tablet or a TV by the courts and leave it. Scores entered on a phone appear in seconds.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7EDF5"/>
                </a:solidFill>
              </a:rPr>
              <a:t>Readable from the court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9AA4B2"/>
                </a:solidFill>
              </a:rPr>
              <a:t>Big type, the live round highlighted, the leaders on the side.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4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7EDF5"/>
                </a:solidFill>
              </a:rPr>
              <a:t>Know your players, and how they are improving</a:t>
            </a:r>
            <a:endParaRPr lang="en-US" sz="3400" dirty="0"/>
          </a:p>
        </p:txBody>
      </p:sp>
      <p:sp>
        <p:nvSpPr>
          <p:cNvPr id="3" name="player-shot-frame"/>
          <p:cNvSpPr/>
          <p:nvPr/>
        </p:nvSpPr>
        <p:spPr>
          <a:xfrm>
            <a:off x="4910328" y="1271016"/>
            <a:ext cx="6784848" cy="5033913"/>
          </a:xfrm>
          <a:prstGeom prst="roundRect">
            <a:avLst>
              <a:gd name="adj" fmla="val 1816"/>
            </a:avLst>
          </a:prstGeom>
          <a:solidFill>
            <a:srgbClr val="1B243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4" name="player-shot" descr="/w/docs/deck/media/p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325880"/>
            <a:ext cx="6675120" cy="4924185"/>
          </a:xfrm>
          <a:prstGeom prst="rect">
            <a:avLst/>
          </a:prstGeom>
        </p:spPr>
      </p:pic>
      <p:sp>
        <p:nvSpPr>
          <p:cNvPr id="5" name="points"/>
          <p:cNvSpPr txBox="1"/>
          <p:nvPr/>
        </p:nvSpPr>
        <p:spPr>
          <a:xfrm>
            <a:off x="548640" y="1417320"/>
            <a:ext cx="4023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</a:rPr>
              <a:t>Every player, kept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9AA4B2"/>
                </a:solidFill>
              </a:rPr>
              <a:t>Everyone who ever signed up, filled in from sign-ups and pasted messages.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</a:rPr>
              <a:t>Levels with a history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9AA4B2"/>
                </a:solidFill>
              </a:rPr>
              <a:t>A 1 to 7 level per player. Each change is kept with its date and a note: "won three tournaments running".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</a:rPr>
              <a:t>Used on the day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9AA4B2"/>
                </a:solidFill>
              </a:rPr>
              <a:t>Levels show on the pairs board and drive Balance by level.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4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7EDF5"/>
                </a:solidFill>
              </a:rPr>
              <a:t>Made for the way clubs actually run</a:t>
            </a:r>
            <a:endParaRPr lang="en-US" sz="3400" dirty="0"/>
          </a:p>
        </p:txBody>
      </p:sp>
      <p:sp>
        <p:nvSpPr>
          <p:cNvPr id="3" name="tile-0"/>
          <p:cNvSpPr/>
          <p:nvPr/>
        </p:nvSpPr>
        <p:spPr>
          <a:xfrm>
            <a:off x="548640" y="1463040"/>
            <a:ext cx="3484778" cy="205740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4" name="icon-bg-globe"/>
          <p:cNvSpPr/>
          <p:nvPr/>
        </p:nvSpPr>
        <p:spPr>
          <a:xfrm>
            <a:off x="822960" y="1755648"/>
            <a:ext cx="530352" cy="530352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5" name="icon-glob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637" y="1872325"/>
            <a:ext cx="296997" cy="296997"/>
          </a:xfrm>
          <a:prstGeom prst="rect">
            <a:avLst/>
          </a:prstGeom>
        </p:spPr>
      </p:pic>
      <p:sp>
        <p:nvSpPr>
          <p:cNvPr id="6" name="tile-head-0"/>
          <p:cNvSpPr txBox="1"/>
          <p:nvPr/>
        </p:nvSpPr>
        <p:spPr>
          <a:xfrm>
            <a:off x="1508760" y="1737360"/>
            <a:ext cx="2296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</a:rPr>
              <a:t>Four languages</a:t>
            </a:r>
            <a:endParaRPr lang="en-US" sz="1800" dirty="0"/>
          </a:p>
        </p:txBody>
      </p:sp>
      <p:sp>
        <p:nvSpPr>
          <p:cNvPr id="7" name="tile-body-0"/>
          <p:cNvSpPr txBox="1"/>
          <p:nvPr/>
        </p:nvSpPr>
        <p:spPr>
          <a:xfrm>
            <a:off x="822960" y="2423160"/>
            <a:ext cx="29361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4B2"/>
                </a:solidFill>
              </a:rPr>
              <a:t>English, Português, Español and Українська, for the console and the group messages.</a:t>
            </a:r>
            <a:endParaRPr lang="en-US" sz="1400" dirty="0"/>
          </a:p>
        </p:txBody>
      </p:sp>
      <p:sp>
        <p:nvSpPr>
          <p:cNvPr id="8" name="tile-1"/>
          <p:cNvSpPr/>
          <p:nvPr/>
        </p:nvSpPr>
        <p:spPr>
          <a:xfrm>
            <a:off x="4353458" y="1463040"/>
            <a:ext cx="3484778" cy="205740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9" name="icon-bg-tv"/>
          <p:cNvSpPr/>
          <p:nvPr/>
        </p:nvSpPr>
        <p:spPr>
          <a:xfrm>
            <a:off x="4627778" y="1755648"/>
            <a:ext cx="530352" cy="530352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10" name="icon-tv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456" y="1872325"/>
            <a:ext cx="296997" cy="296997"/>
          </a:xfrm>
          <a:prstGeom prst="rect">
            <a:avLst/>
          </a:prstGeom>
        </p:spPr>
      </p:pic>
      <p:sp>
        <p:nvSpPr>
          <p:cNvPr id="11" name="tile-head-1"/>
          <p:cNvSpPr txBox="1"/>
          <p:nvPr/>
        </p:nvSpPr>
        <p:spPr>
          <a:xfrm>
            <a:off x="5313578" y="1737360"/>
            <a:ext cx="2296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</a:rPr>
              <a:t>Phone first</a:t>
            </a:r>
            <a:endParaRPr lang="en-US" sz="1800" dirty="0"/>
          </a:p>
        </p:txBody>
      </p:sp>
      <p:sp>
        <p:nvSpPr>
          <p:cNvPr id="12" name="tile-body-1"/>
          <p:cNvSpPr txBox="1"/>
          <p:nvPr/>
        </p:nvSpPr>
        <p:spPr>
          <a:xfrm>
            <a:off x="4627778" y="2423160"/>
            <a:ext cx="29361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4B2"/>
                </a:solidFill>
              </a:rPr>
              <a:t>Everything works one-handed on a phone; the desktop is a bonus.</a:t>
            </a:r>
            <a:endParaRPr lang="en-US" sz="1400" dirty="0"/>
          </a:p>
        </p:txBody>
      </p:sp>
      <p:sp>
        <p:nvSpPr>
          <p:cNvPr id="13" name="tile-2"/>
          <p:cNvSpPr/>
          <p:nvPr/>
        </p:nvSpPr>
        <p:spPr>
          <a:xfrm>
            <a:off x="8158277" y="1463040"/>
            <a:ext cx="3484778" cy="205740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4" name="icon-bg-chats"/>
          <p:cNvSpPr/>
          <p:nvPr/>
        </p:nvSpPr>
        <p:spPr>
          <a:xfrm>
            <a:off x="8432597" y="1755648"/>
            <a:ext cx="530352" cy="530352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15" name="icon-cha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274" y="1872325"/>
            <a:ext cx="296997" cy="296997"/>
          </a:xfrm>
          <a:prstGeom prst="rect">
            <a:avLst/>
          </a:prstGeom>
        </p:spPr>
      </p:pic>
      <p:sp>
        <p:nvSpPr>
          <p:cNvPr id="16" name="tile-head-2"/>
          <p:cNvSpPr txBox="1"/>
          <p:nvPr/>
        </p:nvSpPr>
        <p:spPr>
          <a:xfrm>
            <a:off x="9118397" y="1737360"/>
            <a:ext cx="2296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</a:rPr>
              <a:t>WhatsApp and Telegram</a:t>
            </a:r>
            <a:endParaRPr lang="en-US" sz="1800" dirty="0"/>
          </a:p>
        </p:txBody>
      </p:sp>
      <p:sp>
        <p:nvSpPr>
          <p:cNvPr id="17" name="tile-body-2"/>
          <p:cNvSpPr txBox="1"/>
          <p:nvPr/>
        </p:nvSpPr>
        <p:spPr>
          <a:xfrm>
            <a:off x="8432597" y="2423160"/>
            <a:ext cx="29361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4B2"/>
                </a:solidFill>
              </a:rPr>
              <a:t>One message, both groups. Copy buttons everywhere for WhatsApp.</a:t>
            </a:r>
            <a:endParaRPr lang="en-US" sz="1400" dirty="0"/>
          </a:p>
        </p:txBody>
      </p:sp>
      <p:sp>
        <p:nvSpPr>
          <p:cNvPr id="18" name="tile-3"/>
          <p:cNvSpPr/>
          <p:nvPr/>
        </p:nvSpPr>
        <p:spPr>
          <a:xfrm>
            <a:off x="548640" y="3794760"/>
            <a:ext cx="3484778" cy="205740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9" name="icon-bg-flag"/>
          <p:cNvSpPr/>
          <p:nvPr/>
        </p:nvSpPr>
        <p:spPr>
          <a:xfrm>
            <a:off x="822960" y="4087368"/>
            <a:ext cx="530352" cy="530352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20" name="icon-fla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637" y="4204045"/>
            <a:ext cx="296997" cy="296997"/>
          </a:xfrm>
          <a:prstGeom prst="rect">
            <a:avLst/>
          </a:prstGeom>
        </p:spPr>
      </p:pic>
      <p:sp>
        <p:nvSpPr>
          <p:cNvPr id="21" name="tile-head-3"/>
          <p:cNvSpPr txBox="1"/>
          <p:nvPr/>
        </p:nvSpPr>
        <p:spPr>
          <a:xfrm>
            <a:off x="1508760" y="4069080"/>
            <a:ext cx="2296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</a:rPr>
              <a:t>Several clubs</a:t>
            </a:r>
            <a:endParaRPr lang="en-US" sz="1800" dirty="0"/>
          </a:p>
        </p:txBody>
      </p:sp>
      <p:sp>
        <p:nvSpPr>
          <p:cNvPr id="22" name="tile-body-3"/>
          <p:cNvSpPr txBox="1"/>
          <p:nvPr/>
        </p:nvSpPr>
        <p:spPr>
          <a:xfrm>
            <a:off x="822960" y="4754880"/>
            <a:ext cx="29361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4B2"/>
                </a:solidFill>
              </a:rPr>
              <a:t>Play at home or away. Each club with its own address and map link.</a:t>
            </a:r>
            <a:endParaRPr lang="en-US" sz="1400" dirty="0"/>
          </a:p>
        </p:txBody>
      </p:sp>
      <p:sp>
        <p:nvSpPr>
          <p:cNvPr id="23" name="tile-4"/>
          <p:cNvSpPr/>
          <p:nvPr/>
        </p:nvSpPr>
        <p:spPr>
          <a:xfrm>
            <a:off x="4353458" y="3794760"/>
            <a:ext cx="3484778" cy="205740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24" name="icon-bg-court"/>
          <p:cNvSpPr/>
          <p:nvPr/>
        </p:nvSpPr>
        <p:spPr>
          <a:xfrm>
            <a:off x="4627778" y="4087368"/>
            <a:ext cx="530352" cy="530352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25" name="icon-cour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4456" y="4204045"/>
            <a:ext cx="296997" cy="296997"/>
          </a:xfrm>
          <a:prstGeom prst="rect">
            <a:avLst/>
          </a:prstGeom>
        </p:spPr>
      </p:pic>
      <p:sp>
        <p:nvSpPr>
          <p:cNvPr id="26" name="tile-head-4"/>
          <p:cNvSpPr txBox="1"/>
          <p:nvPr/>
        </p:nvSpPr>
        <p:spPr>
          <a:xfrm>
            <a:off x="5313578" y="4069080"/>
            <a:ext cx="2296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</a:rPr>
              <a:t>Courts per tournament</a:t>
            </a:r>
            <a:endParaRPr lang="en-US" sz="1800" dirty="0"/>
          </a:p>
        </p:txBody>
      </p:sp>
      <p:sp>
        <p:nvSpPr>
          <p:cNvPr id="27" name="tile-body-4"/>
          <p:cNvSpPr txBox="1"/>
          <p:nvPr/>
        </p:nvSpPr>
        <p:spPr>
          <a:xfrm>
            <a:off x="4627778" y="4754880"/>
            <a:ext cx="29361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4B2"/>
                </a:solidFill>
              </a:rPr>
              <a:t>Name them, add or remove them for one tournament without touching the next.</a:t>
            </a:r>
            <a:endParaRPr lang="en-US" sz="1400" dirty="0"/>
          </a:p>
        </p:txBody>
      </p:sp>
      <p:sp>
        <p:nvSpPr>
          <p:cNvPr id="28" name="tile-5"/>
          <p:cNvSpPr/>
          <p:nvPr/>
        </p:nvSpPr>
        <p:spPr>
          <a:xfrm>
            <a:off x="8158277" y="3794760"/>
            <a:ext cx="3484778" cy="205740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29" name="icon-bg-trophy"/>
          <p:cNvSpPr/>
          <p:nvPr/>
        </p:nvSpPr>
        <p:spPr>
          <a:xfrm>
            <a:off x="8432597" y="4087368"/>
            <a:ext cx="530352" cy="530352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30" name="icon-trophy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274" y="4204045"/>
            <a:ext cx="296997" cy="296997"/>
          </a:xfrm>
          <a:prstGeom prst="rect">
            <a:avLst/>
          </a:prstGeom>
        </p:spPr>
      </p:pic>
      <p:sp>
        <p:nvSpPr>
          <p:cNvPr id="31" name="tile-head-5"/>
          <p:cNvSpPr txBox="1"/>
          <p:nvPr/>
        </p:nvSpPr>
        <p:spPr>
          <a:xfrm>
            <a:off x="9118397" y="4069080"/>
            <a:ext cx="2296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</a:rPr>
              <a:t>Standings ready to share</a:t>
            </a:r>
            <a:endParaRPr lang="en-US" sz="1800" dirty="0"/>
          </a:p>
        </p:txBody>
      </p:sp>
      <p:sp>
        <p:nvSpPr>
          <p:cNvPr id="32" name="tile-body-5"/>
          <p:cNvSpPr txBox="1"/>
          <p:nvPr/>
        </p:nvSpPr>
        <p:spPr>
          <a:xfrm>
            <a:off x="8432597" y="4754880"/>
            <a:ext cx="29361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4B2"/>
                </a:solidFill>
              </a:rPr>
              <a:t>A real table on screen, and the same table as a message for the group.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4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7EDF5"/>
                </a:solidFill>
              </a:rPr>
              <a:t>Coming next</a:t>
            </a:r>
            <a:endParaRPr lang="en-US" sz="3400" dirty="0"/>
          </a:p>
        </p:txBody>
      </p:sp>
      <p:sp>
        <p:nvSpPr>
          <p:cNvPr id="3" name="lede"/>
          <p:cNvSpPr txBox="1"/>
          <p:nvPr/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4B2"/>
                </a:solidFill>
              </a:rPr>
              <a:t>In development. Tell us what your club needs first</a:t>
            </a:r>
            <a:endParaRPr lang="en-US" sz="1600" dirty="0"/>
          </a:p>
        </p:txBody>
      </p:sp>
      <p:sp>
        <p:nvSpPr>
          <p:cNvPr id="4" name="next-0"/>
          <p:cNvSpPr/>
          <p:nvPr/>
        </p:nvSpPr>
        <p:spPr>
          <a:xfrm>
            <a:off x="548640" y="1874520"/>
            <a:ext cx="3484778" cy="4206240"/>
          </a:xfrm>
          <a:prstGeom prst="roundRect">
            <a:avLst>
              <a:gd name="adj" fmla="val 3149"/>
            </a:avLst>
          </a:prstGeom>
          <a:solidFill>
            <a:srgbClr val="121A2B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5" name="icon-bg-shuffle"/>
          <p:cNvSpPr/>
          <p:nvPr/>
        </p:nvSpPr>
        <p:spPr>
          <a:xfrm>
            <a:off x="868680" y="2240280"/>
            <a:ext cx="640080" cy="640080"/>
          </a:xfrm>
          <a:prstGeom prst="ellipse">
            <a:avLst/>
          </a:prstGeom>
          <a:solidFill>
            <a:srgbClr val="1B2437"/>
          </a:solidFill>
          <a:ln w="12700">
            <a:solidFill>
              <a:srgbClr val="1B2437"/>
            </a:solidFill>
            <a:prstDash val="solid"/>
          </a:ln>
        </p:spPr>
      </p:sp>
      <p:pic>
        <p:nvPicPr>
          <p:cNvPr id="6" name="icon-shuff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381098"/>
            <a:ext cx="358445" cy="358445"/>
          </a:xfrm>
          <a:prstGeom prst="rect">
            <a:avLst/>
          </a:prstGeom>
        </p:spPr>
      </p:pic>
      <p:sp>
        <p:nvSpPr>
          <p:cNvPr id="7" name="next-head-0"/>
          <p:cNvSpPr txBox="1"/>
          <p:nvPr/>
        </p:nvSpPr>
        <p:spPr>
          <a:xfrm>
            <a:off x="868680" y="306324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More formats</a:t>
            </a:r>
            <a:endParaRPr lang="en-US" sz="2200" dirty="0"/>
          </a:p>
        </p:txBody>
      </p:sp>
      <p:sp>
        <p:nvSpPr>
          <p:cNvPr id="8" name="next-list-0"/>
          <p:cNvSpPr txBox="1"/>
          <p:nvPr/>
        </p:nvSpPr>
        <p:spPr>
          <a:xfrm>
            <a:off x="868680" y="3703320"/>
            <a:ext cx="28446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</a:rPr>
              <a:t>Americano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</a:rPr>
              <a:t>Mexicano, with rules your club sets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</a:rPr>
              <a:t>Up and Down</a:t>
            </a:r>
            <a:endParaRPr lang="en-US" sz="1500" dirty="0"/>
          </a:p>
        </p:txBody>
      </p:sp>
      <p:sp>
        <p:nvSpPr>
          <p:cNvPr id="9" name="next-1"/>
          <p:cNvSpPr/>
          <p:nvPr/>
        </p:nvSpPr>
        <p:spPr>
          <a:xfrm>
            <a:off x="4353458" y="1874520"/>
            <a:ext cx="3484778" cy="4206240"/>
          </a:xfrm>
          <a:prstGeom prst="roundRect">
            <a:avLst>
              <a:gd name="adj" fmla="val 3149"/>
            </a:avLst>
          </a:prstGeom>
          <a:solidFill>
            <a:srgbClr val="121A2B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0" name="icon-bg-user"/>
          <p:cNvSpPr/>
          <p:nvPr/>
        </p:nvSpPr>
        <p:spPr>
          <a:xfrm>
            <a:off x="4673498" y="2240280"/>
            <a:ext cx="640080" cy="640080"/>
          </a:xfrm>
          <a:prstGeom prst="ellipse">
            <a:avLst/>
          </a:prstGeom>
          <a:solidFill>
            <a:srgbClr val="1B2437"/>
          </a:solidFill>
          <a:ln w="12700">
            <a:solidFill>
              <a:srgbClr val="1B2437"/>
            </a:solidFill>
            <a:prstDash val="solid"/>
          </a:ln>
        </p:spPr>
      </p:sp>
      <p:pic>
        <p:nvPicPr>
          <p:cNvPr id="11" name="icon-us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316" y="2381098"/>
            <a:ext cx="358445" cy="358445"/>
          </a:xfrm>
          <a:prstGeom prst="rect">
            <a:avLst/>
          </a:prstGeom>
        </p:spPr>
      </p:pic>
      <p:sp>
        <p:nvSpPr>
          <p:cNvPr id="12" name="next-head-1"/>
          <p:cNvSpPr txBox="1"/>
          <p:nvPr/>
        </p:nvSpPr>
        <p:spPr>
          <a:xfrm>
            <a:off x="4673498" y="306324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Players on the app</a:t>
            </a:r>
            <a:endParaRPr lang="en-US" sz="2200" dirty="0"/>
          </a:p>
        </p:txBody>
      </p:sp>
      <p:sp>
        <p:nvSpPr>
          <p:cNvPr id="13" name="next-list-1"/>
          <p:cNvSpPr txBox="1"/>
          <p:nvPr/>
        </p:nvSpPr>
        <p:spPr>
          <a:xfrm>
            <a:off x="4673498" y="3703320"/>
            <a:ext cx="28446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</a:rPr>
              <a:t>Log in with a code by WhatsApp, SMS or email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</a:rPr>
              <a:t>Avatars and club logos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</a:rPr>
              <a:t>Phone, Instagram, left or right handed</a:t>
            </a:r>
            <a:endParaRPr lang="en-US" sz="1500" dirty="0"/>
          </a:p>
        </p:txBody>
      </p:sp>
      <p:sp>
        <p:nvSpPr>
          <p:cNvPr id="14" name="next-2"/>
          <p:cNvSpPr/>
          <p:nvPr/>
        </p:nvSpPr>
        <p:spPr>
          <a:xfrm>
            <a:off x="8158277" y="1874520"/>
            <a:ext cx="3484778" cy="4206240"/>
          </a:xfrm>
          <a:prstGeom prst="roundRect">
            <a:avLst>
              <a:gd name="adj" fmla="val 3149"/>
            </a:avLst>
          </a:prstGeom>
          <a:solidFill>
            <a:srgbClr val="121A2B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5" name="icon-bg-home"/>
          <p:cNvSpPr/>
          <p:nvPr/>
        </p:nvSpPr>
        <p:spPr>
          <a:xfrm>
            <a:off x="8478317" y="2240280"/>
            <a:ext cx="640080" cy="640080"/>
          </a:xfrm>
          <a:prstGeom prst="ellipse">
            <a:avLst/>
          </a:prstGeom>
          <a:solidFill>
            <a:srgbClr val="1B2437"/>
          </a:solidFill>
          <a:ln w="12700">
            <a:solidFill>
              <a:srgbClr val="1B2437"/>
            </a:solidFill>
            <a:prstDash val="solid"/>
          </a:ln>
        </p:spPr>
      </p:sp>
      <p:pic>
        <p:nvPicPr>
          <p:cNvPr id="16" name="icon-hom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134" y="2381098"/>
            <a:ext cx="358445" cy="358445"/>
          </a:xfrm>
          <a:prstGeom prst="rect">
            <a:avLst/>
          </a:prstGeom>
        </p:spPr>
      </p:pic>
      <p:sp>
        <p:nvSpPr>
          <p:cNvPr id="17" name="next-head-2"/>
          <p:cNvSpPr txBox="1"/>
          <p:nvPr/>
        </p:nvSpPr>
        <p:spPr>
          <a:xfrm>
            <a:off x="8478317" y="306324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Run it your way</a:t>
            </a:r>
            <a:endParaRPr lang="en-US" sz="2200" dirty="0"/>
          </a:p>
        </p:txBody>
      </p:sp>
      <p:sp>
        <p:nvSpPr>
          <p:cNvPr id="18" name="next-list-2"/>
          <p:cNvSpPr txBox="1"/>
          <p:nvPr/>
        </p:nvSpPr>
        <p:spPr>
          <a:xfrm>
            <a:off x="8478317" y="3703320"/>
            <a:ext cx="28446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</a:rPr>
              <a:t>Open source: host it at your club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</a:rPr>
              <a:t>Or hosted for you, on your club's own address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</a:rPr>
              <a:t>Roles for players, organizers and clubs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4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868680" cy="8686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7EDF5"/>
                </a:solidFill>
              </a:rPr>
              <a:t>Your next tournament, without the paper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402336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AA4B2"/>
                </a:solidFill>
              </a:rPr>
              <a:t>We set up your club and courts. You paste your usual message. Your players get every round on their phones.</a:t>
            </a:r>
            <a:endParaRPr lang="en-US" sz="1800" dirty="0"/>
          </a:p>
        </p:txBody>
      </p:sp>
      <p:sp>
        <p:nvSpPr>
          <p:cNvPr id="5" name="phone-board-frame"/>
          <p:cNvSpPr/>
          <p:nvPr/>
        </p:nvSpPr>
        <p:spPr>
          <a:xfrm>
            <a:off x="7260336" y="813816"/>
            <a:ext cx="2258568" cy="4758239"/>
          </a:xfrm>
          <a:prstGeom prst="roundRect">
            <a:avLst>
              <a:gd name="adj" fmla="val 4049"/>
            </a:avLst>
          </a:prstGeom>
          <a:solidFill>
            <a:srgbClr val="1B243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6" name="phone-board" descr="/w/docs/deck/media/phone-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868680"/>
            <a:ext cx="2148840" cy="4648511"/>
          </a:xfrm>
          <a:prstGeom prst="rect">
            <a:avLst/>
          </a:prstGeom>
        </p:spPr>
      </p:pic>
      <p:sp>
        <p:nvSpPr>
          <p:cNvPr id="7" name="phone-pairs-frame"/>
          <p:cNvSpPr/>
          <p:nvPr/>
        </p:nvSpPr>
        <p:spPr>
          <a:xfrm>
            <a:off x="9592056" y="1271016"/>
            <a:ext cx="2075688" cy="4362621"/>
          </a:xfrm>
          <a:prstGeom prst="roundRect">
            <a:avLst>
              <a:gd name="adj" fmla="val 4405"/>
            </a:avLst>
          </a:prstGeom>
          <a:solidFill>
            <a:srgbClr val="1B243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8" name="phone-pairs" descr="/w/docs/deck/media/phone-pai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1325880"/>
            <a:ext cx="1965960" cy="42528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del Buddy">
  <a:themeElements>
    <a:clrScheme name="Padel Buddy">
      <a:dk1>
        <a:srgbClr val="0B1120"/>
      </a:dk1>
      <a:lt1>
        <a:srgbClr val="E7EDF5"/>
      </a:lt1>
      <a:dk2>
        <a:srgbClr val="121A2B"/>
      </a:dk2>
      <a:lt2>
        <a:srgbClr val="9AA4B2"/>
      </a:lt2>
      <a:accent1>
        <a:srgbClr val="34D399"/>
      </a:accent1>
      <a:accent2>
        <a:srgbClr val="60A5FA"/>
      </a:accent2>
      <a:accent3>
        <a:srgbClr val="FCD34D"/>
      </a:accent3>
      <a:accent4>
        <a:srgbClr val="065F46"/>
      </a:accent4>
      <a:accent5>
        <a:srgbClr val="1B2437"/>
      </a:accent5>
      <a:accent6>
        <a:srgbClr val="FFB4AB"/>
      </a:accent6>
      <a:hlink>
        <a:srgbClr val="34D399"/>
      </a:hlink>
      <a:folHlink>
        <a:srgbClr val="60A5FA"/>
      </a:folHlink>
    </a:clrScheme>
    <a:fontScheme name="Padel Budd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Padel Buddy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Padel Buddy Tournaments for organizers</dc:title>
  <dc:subject>PptxGenJS Presentation</dc:subject>
  <dc:creator>Padel Buddy</dc:creator>
  <cp:lastModifiedBy>Padel Buddy</cp:lastModifiedBy>
  <cp:revision>1</cp:revision>
  <dcterms:created xsi:type="dcterms:W3CDTF">2026-10-07T20:19:13Z</dcterms:created>
  <dcterms:modified xsi:type="dcterms:W3CDTF">2026-10-07T20:19:13Z</dcterms:modified>
</cp:coreProperties>
</file>